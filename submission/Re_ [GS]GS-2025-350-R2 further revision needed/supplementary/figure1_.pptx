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-30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6522-A9B0-4F52-8E61-333B44915D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3DE95-B47C-47B1-8267-4805F02166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449694" y="554951"/>
            <a:ext cx="8133735" cy="6175458"/>
            <a:chOff x="3449694" y="554951"/>
            <a:chExt cx="8133735" cy="6175458"/>
          </a:xfrm>
        </p:grpSpPr>
        <p:pic>
          <p:nvPicPr>
            <p:cNvPr id="3" name="图片 2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9" t="3854" r="4891"/>
            <a:stretch>
              <a:fillRect/>
            </a:stretch>
          </p:blipFill>
          <p:spPr>
            <a:xfrm>
              <a:off x="3450837" y="673367"/>
              <a:ext cx="4111200" cy="3084258"/>
            </a:xfrm>
            <a:prstGeom prst="rect">
              <a:avLst/>
            </a:prstGeom>
          </p:spPr>
        </p:pic>
        <p:grpSp>
          <p:nvGrpSpPr>
            <p:cNvPr id="18" name="Group 17"/>
            <p:cNvGrpSpPr/>
            <p:nvPr/>
          </p:nvGrpSpPr>
          <p:grpSpPr>
            <a:xfrm>
              <a:off x="3449694" y="554951"/>
              <a:ext cx="8133735" cy="6175458"/>
              <a:chOff x="1737852" y="164762"/>
              <a:chExt cx="8133735" cy="6175458"/>
            </a:xfrm>
          </p:grpSpPr>
          <p:pic>
            <p:nvPicPr>
              <p:cNvPr id="11" name="Picture 10" descr="A graph of a patient's disease&#10;&#10;Description automatically generated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7852" y="3255962"/>
                <a:ext cx="4112343" cy="3084258"/>
              </a:xfrm>
              <a:prstGeom prst="rect">
                <a:avLst/>
              </a:prstGeom>
            </p:spPr>
          </p:pic>
          <p:pic>
            <p:nvPicPr>
              <p:cNvPr id="7" name="Picture 6" descr="A graph of a patient's brain&#10;&#10;Description automatically generated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59243" y="283649"/>
                <a:ext cx="4112343" cy="3084258"/>
              </a:xfrm>
              <a:prstGeom prst="rect">
                <a:avLst/>
              </a:prstGeom>
            </p:spPr>
          </p:pic>
          <p:pic>
            <p:nvPicPr>
              <p:cNvPr id="9" name="Picture 8" descr="A graph of a number of patients with surgery groups&#10;&#10;Description automatically generated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59244" y="3255962"/>
                <a:ext cx="4112343" cy="3084258"/>
              </a:xfrm>
              <a:prstGeom prst="rect">
                <a:avLst/>
              </a:prstGeom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1737852" y="164765"/>
                <a:ext cx="409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A</a:t>
                </a:r>
                <a:endParaRPr lang="zh-CN" altLang="en-US" sz="2400" b="1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764776" y="164762"/>
                <a:ext cx="409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B</a:t>
                </a:r>
                <a:endParaRPr lang="zh-CN" altLang="en-US" sz="2400" b="1"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737852" y="3137076"/>
                <a:ext cx="409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C</a:t>
                </a:r>
                <a:endParaRPr lang="zh-CN" altLang="en-US" sz="2400" b="1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759245" y="3137075"/>
                <a:ext cx="409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D</a:t>
                </a:r>
                <a:endParaRPr lang="zh-CN" altLang="en-US" sz="2400" b="1" dirty="0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08421" y="202620"/>
            <a:ext cx="3605646" cy="893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altLang="zh-CN" dirty="0"/>
              <a:t>SEER dataset BC</a:t>
            </a:r>
            <a:br>
              <a:rPr lang="nb-NO" altLang="zh-CN" dirty="0"/>
            </a:br>
            <a:r>
              <a:rPr lang="en-US" altLang="zh-CN" dirty="0"/>
              <a:t>2013</a:t>
            </a:r>
            <a:r>
              <a:rPr lang="nb-NO" altLang="zh-CN" dirty="0"/>
              <a:t>–2018 (n=101,964)</a:t>
            </a:r>
            <a:endParaRPr lang="zh-CN" altLang="en-US" dirty="0"/>
          </a:p>
        </p:txBody>
      </p:sp>
      <p:cxnSp>
        <p:nvCxnSpPr>
          <p:cNvPr id="4" name="直接箭头连接符 3"/>
          <p:cNvCxnSpPr>
            <a:stCxn id="2" idx="4"/>
          </p:cNvCxnSpPr>
          <p:nvPr/>
        </p:nvCxnSpPr>
        <p:spPr>
          <a:xfrm>
            <a:off x="6811244" y="1096238"/>
            <a:ext cx="0" cy="867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317549" y="2000247"/>
            <a:ext cx="2987389" cy="72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Patients included in the</a:t>
            </a:r>
            <a:br>
              <a:rPr lang="en-US" altLang="zh-CN" dirty="0"/>
            </a:br>
            <a:r>
              <a:rPr lang="en-US" altLang="zh-CN" dirty="0"/>
              <a:t>analysis (n=10,214)</a:t>
            </a:r>
            <a:endParaRPr lang="zh-CN" altLang="en-US" dirty="0"/>
          </a:p>
        </p:txBody>
      </p:sp>
      <p:sp>
        <p:nvSpPr>
          <p:cNvPr id="8" name="矩形: 圆角 7"/>
          <p:cNvSpPr/>
          <p:nvPr/>
        </p:nvSpPr>
        <p:spPr>
          <a:xfrm>
            <a:off x="1763859" y="1908030"/>
            <a:ext cx="1974272" cy="9066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Exclude due to</a:t>
            </a:r>
            <a:br>
              <a:rPr lang="en-US" altLang="zh-CN" dirty="0"/>
            </a:br>
            <a:r>
              <a:rPr lang="en-US" altLang="zh-CN" dirty="0"/>
              <a:t>missing variables</a:t>
            </a:r>
            <a:br>
              <a:rPr lang="en-US" altLang="zh-CN" dirty="0"/>
            </a:br>
            <a:r>
              <a:rPr lang="en-US" altLang="zh-CN" dirty="0"/>
              <a:t>(n=91,750)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3738131" y="2361331"/>
            <a:ext cx="15794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/>
          <p:cNvCxnSpPr/>
          <p:nvPr/>
        </p:nvCxnSpPr>
        <p:spPr>
          <a:xfrm rot="16200000" flipH="1">
            <a:off x="6730714" y="2739298"/>
            <a:ext cx="2015838" cy="18547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/>
          <p:cNvCxnSpPr/>
          <p:nvPr/>
        </p:nvCxnSpPr>
        <p:spPr>
          <a:xfrm rot="5400000">
            <a:off x="4922697" y="2786060"/>
            <a:ext cx="1911930" cy="1865163"/>
          </a:xfrm>
          <a:prstGeom prst="bentConnector3">
            <a:avLst>
              <a:gd name="adj1" fmla="val 472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830853" y="4714868"/>
            <a:ext cx="1670340" cy="832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Validation set</a:t>
            </a:r>
            <a:br>
              <a:rPr lang="en-US" altLang="zh-CN" dirty="0"/>
            </a:br>
            <a:r>
              <a:rPr lang="en-US" altLang="zh-CN" dirty="0"/>
              <a:t>(n=2,042)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4138178" y="4714868"/>
            <a:ext cx="1670340" cy="832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Training set</a:t>
            </a:r>
            <a:br>
              <a:rPr lang="en-US" altLang="zh-CN" dirty="0"/>
            </a:br>
            <a:r>
              <a:rPr lang="en-US" altLang="zh-CN" dirty="0"/>
              <a:t>(n=8,172)</a:t>
            </a:r>
            <a:endParaRPr lang="zh-CN" altLang="en-US" dirty="0"/>
          </a:p>
        </p:txBody>
      </p:sp>
      <p:cxnSp>
        <p:nvCxnSpPr>
          <p:cNvPr id="35" name="连接符: 肘形 34"/>
          <p:cNvCxnSpPr>
            <a:stCxn id="29" idx="2"/>
          </p:cNvCxnSpPr>
          <p:nvPr/>
        </p:nvCxnSpPr>
        <p:spPr>
          <a:xfrm rot="5400000">
            <a:off x="6733962" y="5631222"/>
            <a:ext cx="2015841" cy="18482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/>
          <p:cNvCxnSpPr/>
          <p:nvPr/>
        </p:nvCxnSpPr>
        <p:spPr>
          <a:xfrm rot="16200000" flipH="1">
            <a:off x="4911002" y="5622781"/>
            <a:ext cx="1935318" cy="18651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141030" y="7594889"/>
            <a:ext cx="1340426" cy="531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</a:t>
            </a:r>
            <a:endParaRPr lang="zh-CN" altLang="en-US" dirty="0"/>
          </a:p>
        </p:txBody>
      </p:sp>
      <p:sp>
        <p:nvSpPr>
          <p:cNvPr id="46" name="矩形: 圆角 45"/>
          <p:cNvSpPr/>
          <p:nvPr/>
        </p:nvSpPr>
        <p:spPr>
          <a:xfrm>
            <a:off x="862766" y="7407206"/>
            <a:ext cx="3516677" cy="9066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Deep survival network</a:t>
            </a:r>
            <a:endParaRPr lang="en-US" altLang="zh-CN" dirty="0"/>
          </a:p>
          <a:p>
            <a:pPr algn="ctr"/>
            <a:r>
              <a:rPr lang="en-US" altLang="zh-CN" dirty="0"/>
              <a:t>cox proportional hazards model</a:t>
            </a:r>
            <a:endParaRPr lang="zh-CN" altLang="en-US" dirty="0"/>
          </a:p>
        </p:txBody>
      </p:sp>
      <p:cxnSp>
        <p:nvCxnSpPr>
          <p:cNvPr id="47" name="直接箭头连接符 46"/>
          <p:cNvCxnSpPr>
            <a:stCxn id="46" idx="3"/>
            <a:endCxn id="41" idx="1"/>
          </p:cNvCxnSpPr>
          <p:nvPr/>
        </p:nvCxnSpPr>
        <p:spPr>
          <a:xfrm>
            <a:off x="4379443" y="7860507"/>
            <a:ext cx="1761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41" idx="2"/>
            <a:endCxn id="67" idx="0"/>
          </p:cNvCxnSpPr>
          <p:nvPr/>
        </p:nvCxnSpPr>
        <p:spPr>
          <a:xfrm>
            <a:off x="6811243" y="8126125"/>
            <a:ext cx="6498" cy="1943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/>
          <p:cNvSpPr/>
          <p:nvPr/>
        </p:nvSpPr>
        <p:spPr>
          <a:xfrm>
            <a:off x="581891" y="8956111"/>
            <a:ext cx="3884909" cy="9066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 evaluation</a:t>
            </a:r>
            <a:br>
              <a:rPr lang="en-US" altLang="zh-CN" dirty="0"/>
            </a:br>
            <a:r>
              <a:rPr lang="en-US" altLang="zh-CN" dirty="0"/>
              <a:t>concordance index, calibration curve</a:t>
            </a:r>
            <a:endParaRPr lang="zh-CN" altLang="en-US" dirty="0"/>
          </a:p>
        </p:txBody>
      </p:sp>
      <p:cxnSp>
        <p:nvCxnSpPr>
          <p:cNvPr id="53" name="直接箭头连接符 52"/>
          <p:cNvCxnSpPr/>
          <p:nvPr/>
        </p:nvCxnSpPr>
        <p:spPr>
          <a:xfrm>
            <a:off x="4466800" y="9363515"/>
            <a:ext cx="2344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6147528" y="10069670"/>
            <a:ext cx="1340426" cy="531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Optimal</a:t>
            </a:r>
            <a:endParaRPr lang="en-US" altLang="zh-CN"/>
          </a:p>
          <a:p>
            <a:pPr algn="ctr"/>
            <a:r>
              <a:rPr lang="en-US" altLang="zh-CN"/>
              <a:t>Model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6003781" y="12544451"/>
            <a:ext cx="1734852" cy="531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</a:t>
            </a:r>
            <a:br>
              <a:rPr lang="en-US" altLang="zh-CN" dirty="0"/>
            </a:br>
            <a:r>
              <a:rPr lang="en-US" altLang="zh-CN" dirty="0"/>
              <a:t>interpretability</a:t>
            </a:r>
            <a:endParaRPr lang="zh-CN" altLang="en-US" dirty="0"/>
          </a:p>
        </p:txBody>
      </p:sp>
      <p:cxnSp>
        <p:nvCxnSpPr>
          <p:cNvPr id="72" name="直接箭头连接符 71"/>
          <p:cNvCxnSpPr/>
          <p:nvPr/>
        </p:nvCxnSpPr>
        <p:spPr>
          <a:xfrm>
            <a:off x="6864709" y="10600906"/>
            <a:ext cx="6498" cy="1943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: 圆角 72"/>
          <p:cNvSpPr/>
          <p:nvPr/>
        </p:nvSpPr>
        <p:spPr>
          <a:xfrm>
            <a:off x="581890" y="11249039"/>
            <a:ext cx="3884909" cy="90660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Shapley</a:t>
            </a:r>
            <a:r>
              <a:rPr lang="en-US" altLang="zh-CN" b="1" dirty="0"/>
              <a:t> </a:t>
            </a:r>
            <a:r>
              <a:rPr lang="en-US" altLang="zh-CN" dirty="0"/>
              <a:t>Additive</a:t>
            </a:r>
            <a:r>
              <a:rPr lang="en-US" altLang="zh-CN" b="1" dirty="0"/>
              <a:t> </a:t>
            </a:r>
            <a:r>
              <a:rPr lang="en-US" altLang="zh-CN" dirty="0"/>
              <a:t>Explanation</a:t>
            </a:r>
            <a:endParaRPr lang="zh-CN" altLang="en-US" dirty="0"/>
          </a:p>
        </p:txBody>
      </p:sp>
      <p:cxnSp>
        <p:nvCxnSpPr>
          <p:cNvPr id="74" name="直接箭头连接符 73"/>
          <p:cNvCxnSpPr/>
          <p:nvPr/>
        </p:nvCxnSpPr>
        <p:spPr>
          <a:xfrm>
            <a:off x="4480876" y="11702340"/>
            <a:ext cx="2344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WPS 演示</Application>
  <PresentationFormat>宽屏</PresentationFormat>
  <Paragraphs>32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 bryan</dc:creator>
  <cp:lastModifiedBy>赵启帆</cp:lastModifiedBy>
  <cp:revision>13</cp:revision>
  <dcterms:created xsi:type="dcterms:W3CDTF">2024-01-26T01:01:00Z</dcterms:created>
  <dcterms:modified xsi:type="dcterms:W3CDTF">2025-12-24T03:01:04Z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15F493A2C5E34BC2BCA426F7DD0264E7_12</vt:lpwstr>
  </property>
  <property fmtid="{D5CDD505-2E9C-101B-9397-08002B2CF9AE}" pid="3" name="KSOProductBuildVer">
    <vt:lpwstr>2052-12.1.0.24034</vt:lpwstr>
  </property>
</Properties>
</file>